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8" r:id="rId3"/>
    <p:sldId id="257" r:id="rId4"/>
    <p:sldId id="258" r:id="rId5"/>
    <p:sldId id="269" r:id="rId6"/>
    <p:sldId id="259" r:id="rId7"/>
    <p:sldId id="277" r:id="rId8"/>
    <p:sldId id="279" r:id="rId9"/>
    <p:sldId id="260" r:id="rId10"/>
    <p:sldId id="261" r:id="rId11"/>
    <p:sldId id="270" r:id="rId12"/>
    <p:sldId id="262" r:id="rId13"/>
    <p:sldId id="273" r:id="rId14"/>
    <p:sldId id="278" r:id="rId15"/>
    <p:sldId id="263" r:id="rId16"/>
    <p:sldId id="264" r:id="rId17"/>
    <p:sldId id="271" r:id="rId18"/>
    <p:sldId id="265" r:id="rId19"/>
    <p:sldId id="272" r:id="rId20"/>
    <p:sldId id="266" r:id="rId21"/>
    <p:sldId id="274" r:id="rId22"/>
    <p:sldId id="275" r:id="rId23"/>
    <p:sldId id="267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76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1196975"/>
            <a:ext cx="8207375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2422525"/>
            <a:ext cx="8212138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Churn Prediction</a:t>
            </a:r>
          </a:p>
          <a:p>
            <a:r>
              <a:t>Telecommunication Industry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/>
              <a:t>Group number: 5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2400" b="1"/>
              <a:t>Team members:</a:t>
            </a:r>
          </a:p>
          <a:p>
            <a:pPr marL="0" indent="0">
              <a:buNone/>
            </a:pPr>
            <a:r>
              <a:rPr lang="en-US" altLang="en-US" sz="2400"/>
              <a:t>Mohamed Kumail Abbas</a:t>
            </a:r>
          </a:p>
          <a:p>
            <a:pPr marL="0" indent="0">
              <a:buNone/>
            </a:pPr>
            <a:r>
              <a:rPr lang="en-US" altLang="en-US" sz="2400"/>
              <a:t>H.Mohith</a:t>
            </a:r>
          </a:p>
          <a:p>
            <a:pPr marL="0" indent="0">
              <a:buNone/>
            </a:pPr>
            <a:r>
              <a:rPr lang="en-US" altLang="en-US" sz="2400"/>
              <a:t>Shaima Samad</a:t>
            </a:r>
          </a:p>
          <a:p>
            <a:pPr marL="0" indent="0">
              <a:buNone/>
            </a:pPr>
            <a:r>
              <a:rPr lang="en-US" altLang="en-US" sz="2400"/>
              <a:t>Janhawi Sharma</a:t>
            </a:r>
          </a:p>
          <a:p>
            <a:pPr marL="0" indent="0">
              <a:buNone/>
            </a:pPr>
            <a:r>
              <a:rPr lang="en-US" altLang="en-US" sz="2400"/>
              <a:t>Abhishek Patil</a:t>
            </a:r>
          </a:p>
          <a:p>
            <a:pPr marL="0" indent="0">
              <a:buNone/>
            </a:pPr>
            <a:r>
              <a:rPr lang="en-US" altLang="en-US" sz="2400"/>
              <a:t>Praveen Singh Thakur</a:t>
            </a:r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 b="1"/>
              <a:t>Project Co-ordinator:</a:t>
            </a:r>
            <a:r>
              <a:rPr lang="en-US" altLang="en-US" sz="2400"/>
              <a:t> Mr Dilawar</a:t>
            </a:r>
          </a:p>
          <a:p>
            <a:pPr marL="0" indent="0"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4750"/>
            <a:ext cx="7506335" cy="4953000"/>
          </a:xfrm>
        </p:spPr>
        <p:txBody>
          <a:bodyPr/>
          <a:lstStyle/>
          <a:p>
            <a:pPr marL="0" indent="0">
              <a:buNone/>
            </a:pPr>
            <a:endParaRPr lang="en-US" altLang="en-US"/>
          </a:p>
          <a:p>
            <a:r>
              <a:rPr lang="en-US" altLang="en-US" sz="2800"/>
              <a:t>The objective is to build a predictive model that estimates churn probability based on customer features.</a:t>
            </a:r>
          </a:p>
          <a:p>
            <a:pPr marL="0" indent="0">
              <a:buNone/>
            </a:pPr>
            <a:endParaRPr lang="en-US" altLang="en-US" sz="2800"/>
          </a:p>
          <a:p>
            <a:r>
              <a:rPr lang="en-US" altLang="en-US" sz="2800">
                <a:sym typeface="+mn-ea"/>
              </a:rPr>
              <a:t>This project focuses on a binary classification problem to predict whether a customer will churn or remain loyal.</a:t>
            </a:r>
            <a:endParaRPr lang="en-US" altLang="en-US" sz="2800"/>
          </a:p>
          <a:p>
            <a:endParaRPr lang="en-US" altLang="en-US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Details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640080" y="1069340"/>
          <a:ext cx="6668770" cy="5370195"/>
        </p:xfrm>
        <a:graphic>
          <a:graphicData uri="http://schemas.openxmlformats.org/drawingml/2006/table">
            <a:tbl>
              <a:tblPr/>
              <a:tblGrid>
                <a:gridCol w="3334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4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Parameter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Details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555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Dataset Name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telecommunications_churn.csv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555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Total Records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3333 Customers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Total Features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19 Variables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Problem Type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Binary Classification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Target Variable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Churn (1 = Churn, 0 = No Churn)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Account Features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account_length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Plan Features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voice_mail_plan, international_plan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Usage Features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day_mins, evening_mins, night_mins, international_mins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Call Count Features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day_calls, evening_calls, night_calls, international_calls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Charge Features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day_charge, evening_charge, night_charge, international_charge, total_charge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6555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Service Interaction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customer_service_calls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Additional Feature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voice_mail_messages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2E7B61-AE5B-DCAF-4CDD-E41639D3B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32" y="971029"/>
            <a:ext cx="7883313" cy="49159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7892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Checked data structure using head(), info(), describe().</a:t>
            </a:r>
          </a:p>
          <a:p>
            <a:r>
              <a:rPr sz="2800"/>
              <a:t>Analyzed churn distribution.</a:t>
            </a:r>
          </a:p>
          <a:p>
            <a:r>
              <a:rPr sz="2800"/>
              <a:t>Correlation heatmap generated.</a:t>
            </a:r>
          </a:p>
          <a:p>
            <a:r>
              <a:rPr sz="2800"/>
              <a:t>Observed higher churn in customers with:</a:t>
            </a:r>
          </a:p>
          <a:p>
            <a:r>
              <a:rPr sz="2800"/>
              <a:t>   - More customer service calls</a:t>
            </a:r>
          </a:p>
          <a:p>
            <a:r>
              <a:rPr sz="2800"/>
              <a:t>   - International plan users</a:t>
            </a:r>
          </a:p>
          <a:p>
            <a:pPr marL="0" indent="0">
              <a:buNone/>
            </a:pPr>
            <a:endParaRPr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A8B3B-838F-EB4A-DF3E-C0A632638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of EDA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F72DA5-EA2E-D3F0-BB03-FA8B68112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956" y="906003"/>
            <a:ext cx="2610214" cy="56190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1B4D49-B1C3-D5F3-C3E4-9F7DF3894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3" y="773113"/>
            <a:ext cx="2657846" cy="575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614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7EEC13-DAB2-8E98-502A-E07C20753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50" y="272845"/>
            <a:ext cx="7133944" cy="631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491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Encoded categorical variables (Label Encoding).</a:t>
            </a:r>
          </a:p>
          <a:p>
            <a:r>
              <a:rPr sz="2800"/>
              <a:t>Verified no missing values.</a:t>
            </a:r>
          </a:p>
          <a:p>
            <a:r>
              <a:rPr sz="2800"/>
              <a:t>Feature-target split performed.</a:t>
            </a:r>
          </a:p>
          <a:p>
            <a:r>
              <a:rPr sz="2800"/>
              <a:t>Train-Test split (80% training, 20% testing).</a:t>
            </a:r>
          </a:p>
          <a:p>
            <a:endParaRPr sz="2800"/>
          </a:p>
          <a:p>
            <a:pPr marL="0" indent="0">
              <a:buNone/>
            </a:pPr>
            <a:endParaRPr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Logistic Regression</a:t>
            </a:r>
          </a:p>
          <a:p>
            <a:r>
              <a:rPr sz="2800"/>
              <a:t>Decision Tree</a:t>
            </a:r>
          </a:p>
          <a:p>
            <a:r>
              <a:rPr sz="2800"/>
              <a:t>Random Forest</a:t>
            </a:r>
          </a:p>
          <a:p>
            <a:r>
              <a:rPr sz="2800"/>
              <a:t>K-Nearest Neighbors</a:t>
            </a:r>
          </a:p>
          <a:p>
            <a:r>
              <a:rPr lang="en-US" sz="2800"/>
              <a:t>SVC (support vector mechanism)</a:t>
            </a:r>
          </a:p>
          <a:p>
            <a:r>
              <a:rPr lang="en-US" sz="2800"/>
              <a:t>Boosting</a:t>
            </a:r>
            <a:endParaRPr sz="2800"/>
          </a:p>
          <a:p>
            <a:pPr marL="0" indent="0">
              <a:buNone/>
            </a:pPr>
            <a:r>
              <a:rPr lang="en-US" sz="2800"/>
              <a:t>(</a:t>
            </a:r>
            <a:r>
              <a:rPr sz="2800"/>
              <a:t>Compared multiple models for best performance</a:t>
            </a:r>
            <a:r>
              <a:rPr lang="en-US" sz="2800"/>
              <a:t>)</a:t>
            </a:r>
            <a:endParaRPr sz="2800"/>
          </a:p>
          <a:p>
            <a:pPr marL="0" indent="0">
              <a:buNone/>
            </a:pP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A1D3C1-08B5-1E6A-6681-16D286EEB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03" y="657988"/>
            <a:ext cx="7167593" cy="55420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8569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Evaluation Metrics Used:</a:t>
            </a:r>
          </a:p>
          <a:p>
            <a:r>
              <a:rPr sz="2800"/>
              <a:t>   - Accuracy</a:t>
            </a:r>
          </a:p>
          <a:p>
            <a:r>
              <a:rPr sz="2800"/>
              <a:t>   - Precision</a:t>
            </a:r>
          </a:p>
          <a:p>
            <a:r>
              <a:rPr sz="2800"/>
              <a:t>   - Recall</a:t>
            </a:r>
          </a:p>
          <a:p>
            <a:r>
              <a:rPr sz="2800"/>
              <a:t>   - F1-Score</a:t>
            </a:r>
          </a:p>
          <a:p>
            <a:r>
              <a:rPr sz="2800"/>
              <a:t>Confusion Matrix generated.</a:t>
            </a:r>
          </a:p>
          <a:p>
            <a:pPr marL="0" indent="0">
              <a:buNone/>
            </a:pPr>
            <a:r>
              <a:rPr lang="en-US" sz="2800"/>
              <a:t>(</a:t>
            </a:r>
            <a:r>
              <a:rPr sz="2800"/>
              <a:t>Best performing model selected</a:t>
            </a:r>
            <a:r>
              <a:rPr lang="en-US" sz="2800"/>
              <a:t>)</a:t>
            </a:r>
            <a:endParaRPr sz="2800"/>
          </a:p>
          <a:p>
            <a:pPr marL="0" indent="0">
              <a:buNone/>
            </a:pPr>
            <a:endParaRPr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38805E-2D17-2EEF-2382-D294B49A6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257" y="748290"/>
            <a:ext cx="7337485" cy="53614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9396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2A883A-982B-A2B0-CD7D-A5ED68C6C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46" y="294967"/>
            <a:ext cx="7735748" cy="626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288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Class imbalance in churn variable.</a:t>
            </a:r>
          </a:p>
          <a:p>
            <a:r>
              <a:rPr sz="2800"/>
              <a:t>Encoding categorical variables properly.</a:t>
            </a:r>
          </a:p>
          <a:p>
            <a:r>
              <a:rPr sz="2800"/>
              <a:t>Overfitting in Decision Tree model.</a:t>
            </a:r>
          </a:p>
          <a:p>
            <a:r>
              <a:rPr sz="2800"/>
              <a:t>Feature correlation handling.</a:t>
            </a:r>
          </a:p>
          <a:p>
            <a:r>
              <a:rPr sz="2800"/>
              <a:t>Model predicting fewer classes issue.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Best Model:</a:t>
            </a:r>
            <a:r>
              <a:rPr lang="en-US" sz="2800" dirty="0"/>
              <a:t> </a:t>
            </a:r>
            <a:r>
              <a:rPr lang="en-US" sz="2800" dirty="0" err="1"/>
              <a:t>XGboost</a:t>
            </a:r>
            <a:r>
              <a:rPr sz="2800" dirty="0"/>
              <a:t>.</a:t>
            </a:r>
          </a:p>
          <a:p>
            <a:r>
              <a:rPr sz="2800" dirty="0"/>
              <a:t>Achieved high prediction accuracy.</a:t>
            </a:r>
          </a:p>
          <a:p>
            <a:r>
              <a:rPr sz="2800" dirty="0"/>
              <a:t>Successfully identified potential churn customers.</a:t>
            </a:r>
          </a:p>
          <a:p>
            <a:r>
              <a:rPr sz="2800" dirty="0"/>
              <a:t>Model ready for deployment.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F35DA1-3684-56A2-7A08-5A1BB2089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00" y="379083"/>
            <a:ext cx="7689000" cy="60998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4501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Model saved using Pickle.</a:t>
            </a:r>
          </a:p>
          <a:p>
            <a:r>
              <a:rPr sz="2800"/>
              <a:t>Deployment using Flask or Streamlit.</a:t>
            </a:r>
          </a:p>
          <a:p>
            <a:r>
              <a:rPr sz="2800"/>
              <a:t>User inputs customer data.</a:t>
            </a:r>
          </a:p>
          <a:p>
            <a:r>
              <a:rPr sz="2800"/>
              <a:t>Model predicts churn probability in real-time.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F0A74D-F663-7A16-5A68-1BACC2126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05" y="699706"/>
            <a:ext cx="7268589" cy="54585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9268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Reduce customer loss.</a:t>
            </a:r>
          </a:p>
          <a:p>
            <a:r>
              <a:rPr sz="2800"/>
              <a:t>Improve retention strategies.</a:t>
            </a:r>
          </a:p>
          <a:p>
            <a:r>
              <a:rPr sz="2800"/>
              <a:t>Better marketing targeting.</a:t>
            </a:r>
          </a:p>
          <a:p>
            <a:r>
              <a:rPr sz="2800"/>
              <a:t>Increased revenue stability.</a:t>
            </a:r>
          </a:p>
          <a:p>
            <a:r>
              <a:rPr sz="2800"/>
              <a:t>Data-driven decision making.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BC5E5B-D510-F7D1-698B-F8FEF0C10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729" y="270163"/>
            <a:ext cx="3780541" cy="63176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7631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67FBD5-6771-A6E2-CFD5-CA9733E82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838" y="235609"/>
            <a:ext cx="4532324" cy="63867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9013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Successfully built churn prediction model.</a:t>
            </a:r>
          </a:p>
          <a:p>
            <a:r>
              <a:rPr sz="2800"/>
              <a:t>Compared multiple ML algorithms.</a:t>
            </a:r>
          </a:p>
          <a:p>
            <a:r>
              <a:rPr sz="2800"/>
              <a:t>Selected best model based on performance.</a:t>
            </a:r>
          </a:p>
          <a:p>
            <a:r>
              <a:rPr sz="2800"/>
              <a:t>Deployment-ready solution delivered.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25*414"/>
  <p:tag name="TABLE_ENDDRAG_RECT" val="50*84*525*414"/>
</p:tagLst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447</Words>
  <Application>Microsoft Office PowerPoint</Application>
  <PresentationFormat>On-screen Show (4:3)</PresentationFormat>
  <Paragraphs>103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Arial</vt:lpstr>
      <vt:lpstr>Blue Waves</vt:lpstr>
      <vt:lpstr>Customer Churn Prediction Telecommunication Industry</vt:lpstr>
      <vt:lpstr>Group Details</vt:lpstr>
      <vt:lpstr>Business Objective</vt:lpstr>
      <vt:lpstr>Dataset Details</vt:lpstr>
      <vt:lpstr>PowerPoint Presentation</vt:lpstr>
      <vt:lpstr>Exploratory Data Analysis (EDA)</vt:lpstr>
      <vt:lpstr>Insights of EDA</vt:lpstr>
      <vt:lpstr>PowerPoint Presentation</vt:lpstr>
      <vt:lpstr>Data Preprocessing</vt:lpstr>
      <vt:lpstr>Model Building</vt:lpstr>
      <vt:lpstr>PowerPoint Presentation</vt:lpstr>
      <vt:lpstr>Model Evaluation</vt:lpstr>
      <vt:lpstr>PowerPoint Presentation</vt:lpstr>
      <vt:lpstr>PowerPoint Presentation</vt:lpstr>
      <vt:lpstr>Problems Encountered</vt:lpstr>
      <vt:lpstr>Final Results</vt:lpstr>
      <vt:lpstr>PowerPoint Presentation</vt:lpstr>
      <vt:lpstr>Deployment Plan</vt:lpstr>
      <vt:lpstr>PowerPoint Presentation</vt:lpstr>
      <vt:lpstr>Business Impact</vt:lpstr>
      <vt:lpstr>PowerPoint Presentation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dc:description>generated using python-pptx</dc:description>
  <cp:lastModifiedBy>Abhishek Patil</cp:lastModifiedBy>
  <cp:revision>15</cp:revision>
  <dcterms:created xsi:type="dcterms:W3CDTF">2013-01-27T09:14:00Z</dcterms:created>
  <dcterms:modified xsi:type="dcterms:W3CDTF">2026-03-05T14:15:25Z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681414D1C756477095115153EBDB866D_13</vt:lpwstr>
  </property>
  <property fmtid="{D5CDD505-2E9C-101B-9397-08002B2CF9AE}" pid="3" name="KSOProductBuildVer">
    <vt:lpwstr>1033-12.2.0.23196</vt:lpwstr>
  </property>
</Properties>
</file>